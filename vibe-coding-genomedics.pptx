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9D2DC"/>
                </a:solidFill>
                <a:latin typeface="Segoe UI"/>
              </a:rPr>
              <a:t>01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7451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DD4BF"/>
                </a:solidFill>
                <a:latin typeface="Segoe UI"/>
              </a:rPr>
              <a:t>GENOMEDICS  ·  GIUGNO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78638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Vibe-coding</a:t>
            </a:r>
          </a:p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e l'AI nello</a:t>
            </a:r>
          </a:p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2DD4BF"/>
                </a:solidFill>
                <a:latin typeface="Segoe UI"/>
              </a:rPr>
              <a:t>sviluppo del codice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074920"/>
            <a:ext cx="2011680" cy="30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257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D2DC"/>
                </a:solidFill>
                <a:latin typeface="Segoe UI"/>
              </a:rPr>
              <a:t>Gianluca Braccini   ·   Consulente &amp; Docente   ·   Healthcare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BD0D8"/>
                </a:solidFill>
                <a:latin typeface="Segoe UI"/>
              </a:rPr>
              <a:t>02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CHI SONO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A1F2E"/>
                </a:solidFill>
                <a:latin typeface="Segoe UI"/>
              </a:rPr>
              <a:t>30+ anni nel settore.</a:t>
            </a:r>
          </a:p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A1F2E"/>
                </a:solidFill>
                <a:latin typeface="Segoe UI"/>
              </a:rPr>
              <a:t>Memoria storica, non titoli.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788920"/>
            <a:ext cx="51389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3026664"/>
            <a:ext cx="4590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Segoe UI"/>
              </a:rPr>
              <a:t>Sviluppatore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3465576"/>
            <a:ext cx="4590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275"/>
                </a:solidFill>
                <a:latin typeface="Segoe UI"/>
              </a:rPr>
              <a:t>C# · .NET · Python · C/C++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275"/>
                </a:solidFill>
                <a:latin typeface="Segoe UI"/>
              </a:rPr>
              <a:t>PostgreSQL · Npgsql · Healthcare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2788920"/>
            <a:ext cx="51389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3026664"/>
            <a:ext cx="4590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Segoe UI"/>
              </a:rPr>
              <a:t>Freelance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465576"/>
            <a:ext cx="4590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275"/>
                </a:solidFill>
                <a:latin typeface="Segoe UI"/>
              </a:rPr>
              <a:t>Collaboro con Millennium · NewRRS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416552"/>
            <a:ext cx="51389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4654296"/>
            <a:ext cx="4590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Segoe UI"/>
              </a:rPr>
              <a:t>Docente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5093208"/>
            <a:ext cx="4590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275"/>
                </a:solidFill>
                <a:latin typeface="Segoe UI"/>
              </a:rPr>
              <a:t>ITIS A. Meucci · Firenze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275"/>
                </a:solidFill>
                <a:latin typeface="Segoe UI"/>
              </a:rPr>
              <a:t>Informatica di laboratorio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4416552"/>
            <a:ext cx="5138928" cy="13716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4654296"/>
            <a:ext cx="4590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Segoe UI"/>
              </a:rPr>
              <a:t>Perché sono qui?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5093208"/>
            <a:ext cx="45902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275"/>
                </a:solidFill>
                <a:latin typeface="Segoe UI"/>
              </a:rPr>
              <a:t>Non per i titoli. Per quello che ho visto in 30 anni.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BD0D8"/>
                </a:solidFill>
                <a:latin typeface="Segoe UI"/>
              </a:rPr>
              <a:t>03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LA DATA PRECISA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F2E"/>
                </a:solidFill>
                <a:latin typeface="Segoe UI"/>
              </a:rPr>
              <a:t>Non ho mai visto niente di simile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76272"/>
            <a:ext cx="146304" cy="146304"/>
          </a:xfrm>
          <a:prstGeom prst="ellipse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3B0"/>
                </a:solidFill>
                <a:latin typeface="Segoe UI"/>
              </a:rPr>
              <a:t>1981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574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5A6275"/>
                </a:solidFill>
                <a:latin typeface="Segoe UI"/>
              </a:rPr>
              <a:t>Mainframe → PC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43200"/>
            <a:ext cx="146304" cy="146304"/>
          </a:xfrm>
          <a:prstGeom prst="ellipse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6243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3B0"/>
                </a:solidFill>
                <a:latin typeface="Segoe UI"/>
              </a:rPr>
              <a:t>1990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243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5A6275"/>
                </a:solidFill>
                <a:latin typeface="Segoe UI"/>
              </a:rPr>
              <a:t>MS-DOS → Windows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310128"/>
            <a:ext cx="146304" cy="146304"/>
          </a:xfrm>
          <a:prstGeom prst="ellipse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9125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3B0"/>
                </a:solidFill>
                <a:latin typeface="Segoe UI"/>
              </a:rPr>
              <a:t>1995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9125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5A6275"/>
                </a:solidFill>
                <a:latin typeface="Segoe UI"/>
              </a:rPr>
              <a:t>OOP &amp; eventi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77056"/>
            <a:ext cx="146304" cy="146304"/>
          </a:xfrm>
          <a:prstGeom prst="ellipse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75818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3B0"/>
                </a:solidFill>
                <a:latin typeface="Segoe UI"/>
              </a:rPr>
              <a:t>2000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581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5A6275"/>
                </a:solidFill>
                <a:latin typeface="Segoe UI"/>
              </a:rPr>
              <a:t>Internet &amp; Web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443984"/>
            <a:ext cx="146304" cy="146304"/>
          </a:xfrm>
          <a:prstGeom prst="ellipse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32511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3B0"/>
                </a:solidFill>
                <a:latin typeface="Segoe UI"/>
              </a:rPr>
              <a:t>2015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32511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5A6275"/>
                </a:solidFill>
                <a:latin typeface="Segoe UI"/>
              </a:rPr>
              <a:t>REST / gRPC / Cloud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010912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8920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24 nov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8920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F2E"/>
                </a:solidFill>
                <a:latin typeface="Segoe UI"/>
              </a:rPr>
              <a:t>Claude Opus 4.5 + 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783080"/>
            <a:ext cx="3931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i="0">
                <a:solidFill>
                  <a:srgbClr val="0D9488"/>
                </a:solidFill>
                <a:latin typeface="Segoe UI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06324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275"/>
                </a:solidFill>
                <a:latin typeface="Segoe UI"/>
              </a:rPr>
              <a:t>anni di cambiamenti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275"/>
                </a:solidFill>
                <a:latin typeface="Segoe UI"/>
              </a:rPr>
              <a:t>graduali e assimilabili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977639"/>
            <a:ext cx="365760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416052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1">
                <a:solidFill>
                  <a:srgbClr val="1A1F2E"/>
                </a:solidFill>
                <a:latin typeface="Segoe UI"/>
              </a:rPr>
              <a:t>questo no.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892040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9AA3B0"/>
                </a:solidFill>
                <a:latin typeface="Segoe UI"/>
              </a:rPr>
              <a:t>« Non ritrovo un momento storico</a:t>
            </a:r>
          </a:p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9AA3B0"/>
                </a:solidFill>
                <a:latin typeface="Segoe UI"/>
              </a:rPr>
              <a:t>come questo nella mia memoria.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BD0D8"/>
                </a:solidFill>
                <a:latin typeface="Segoe UI"/>
              </a:rPr>
              <a:t>04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IL SALTO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A1F2E"/>
                </a:solidFill>
                <a:latin typeface="Segoe UI"/>
              </a:rPr>
              <a:t>Dal suggerimento all'ecosistema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715768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BD0D8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41071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1A1F2E"/>
                </a:solidFill>
                <a:latin typeface="Segoe UI"/>
              </a:rPr>
              <a:t>Browser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813048"/>
            <a:ext cx="21396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9AA3B0"/>
                </a:solidFill>
                <a:latin typeface="Segoe UI"/>
              </a:rPr>
              <a:t>«Scrivi questa funzione»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715768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BD0D8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341071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1A1F2E"/>
                </a:solidFill>
                <a:latin typeface="Segoe UI"/>
              </a:rPr>
              <a:t>GitHub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6" y="3813048"/>
            <a:ext cx="21396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9AA3B0"/>
                </a:solidFill>
                <a:latin typeface="Segoe UI"/>
              </a:rPr>
              <a:t>Completamento riga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15768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BD0D8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41071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1A1F2E"/>
                </a:solidFill>
                <a:latin typeface="Segoe UI"/>
              </a:rPr>
              <a:t>Cursor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3813048"/>
            <a:ext cx="21396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9AA3B0"/>
                </a:solidFill>
                <a:latin typeface="Segoe UI"/>
              </a:rPr>
              <a:t>Editing contestuale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08008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8" y="2715768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D9488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341071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0D9488"/>
                </a:solidFill>
                <a:latin typeface="Segoe UI"/>
              </a:rPr>
              <a:t>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3813048"/>
            <a:ext cx="21396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0F766E"/>
                </a:solidFill>
                <a:latin typeface="Segoe UI"/>
              </a:rPr>
              <a:t>Ragiona sull'intero repo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074920"/>
            <a:ext cx="1050645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852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5A6275"/>
                </a:solidFill>
                <a:latin typeface="Segoe UI"/>
              </a:rPr>
              <a:t>Non completa righe — capisce soluzioni, progetti, dipendenze, riferimenti incrociati. È un cambio categoriale.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BD0D8"/>
                </a:solidFill>
                <a:latin typeface="Segoe UI"/>
              </a:rPr>
              <a:t>05 / 11</a:t>
            </a:r>
          </a:p>
        </p:txBody>
      </p:sp>
      <p:pic>
        <p:nvPicPr>
          <p:cNvPr id="3" name="Picture 2" descr="strea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4560"/>
            <a:ext cx="12191695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IL PUNTO SCOMODO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2412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A1F2E"/>
                </a:solidFill>
                <a:latin typeface="Segoe UI"/>
              </a:rPr>
              <a:t>Non puoi più competere a quel livello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423160"/>
            <a:ext cx="42062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A3B0"/>
                </a:solidFill>
                <a:latin typeface="Segoe UI"/>
              </a:rPr>
              <a:t>SVILUPPATORE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4206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1A1F2E"/>
                </a:solidFill>
                <a:latin typeface="Segoe UI"/>
              </a:rPr>
              <a:t>~200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AA3B0"/>
                </a:solidFill>
                <a:latin typeface="Segoe UI"/>
              </a:rPr>
              <a:t>righe / ora · fatte bene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29184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BD0D8"/>
                </a:solidFill>
                <a:latin typeface="Segoe UI"/>
              </a:rP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13448" y="2423160"/>
            <a:ext cx="4206240" cy="23774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27889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Segoe UI"/>
              </a:rPr>
              <a:t>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3200400"/>
            <a:ext cx="4206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0D9488"/>
                </a:solidFill>
                <a:latin typeface="Segoe UI"/>
              </a:rPr>
              <a:t>~10k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42519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0F766E"/>
                </a:solidFill>
                <a:latin typeface="Segoe UI"/>
              </a:rPr>
              <a:t>righe / ora · fatte bene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5A6275"/>
                </a:solidFill>
                <a:latin typeface="Segoe UI"/>
              </a:rPr>
              <a:t>Il vantaggio competitivo si sposta: dal saper scrivere codice al saper delegare in modo intelligente.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BD0D8"/>
                </a:solidFill>
                <a:latin typeface="Segoe UI"/>
              </a:rPr>
              <a:t>06 / 11</a:t>
            </a:r>
          </a:p>
        </p:txBody>
      </p:sp>
      <p:pic>
        <p:nvPicPr>
          <p:cNvPr id="3" name="Picture 2" descr="ar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92608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IL VIBE-CODING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2412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A1F2E"/>
                </a:solidFill>
                <a:latin typeface="Segoe UI"/>
              </a:rPr>
              <a:t>Non si scrivono più istruzioni.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A1F2E"/>
                </a:solidFill>
                <a:latin typeface="Segoe UI"/>
              </a:rPr>
              <a:t>Si descrivono </a:t>
            </a:r>
            <a:r>
              <a:rPr sz="3100" b="1" i="0">
                <a:solidFill>
                  <a:srgbClr val="0D9488"/>
                </a:solidFill>
                <a:latin typeface="Segoe UI"/>
              </a:rPr>
              <a:t>intenzioni.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971800"/>
            <a:ext cx="51389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191256"/>
            <a:ext cx="4590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D9488"/>
                </a:solidFill>
                <a:latin typeface="Segoe UI"/>
              </a:rPr>
              <a:t>Architettura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593592"/>
            <a:ext cx="4590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275"/>
                </a:solidFill>
                <a:latin typeface="Segoe UI"/>
              </a:rPr>
              <a:t>Definisce la struttura del sistema e i vincoli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971800"/>
            <a:ext cx="51389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3191256"/>
            <a:ext cx="4590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D9488"/>
                </a:solidFill>
                <a:latin typeface="Segoe UI"/>
              </a:rPr>
              <a:t>Contesto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3593592"/>
            <a:ext cx="4590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275"/>
                </a:solidFill>
                <a:latin typeface="Segoe UI"/>
              </a:rPr>
              <a:t>Fornisce informazioni precise all'AI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462272"/>
            <a:ext cx="51389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681728"/>
            <a:ext cx="4590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D9488"/>
                </a:solidFill>
                <a:latin typeface="Segoe UI"/>
              </a:rPr>
              <a:t>Qualità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5084064"/>
            <a:ext cx="4590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275"/>
                </a:solidFill>
                <a:latin typeface="Segoe UI"/>
              </a:rPr>
              <a:t>Valida, raffina e approva il risultato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462272"/>
            <a:ext cx="51389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4681728"/>
            <a:ext cx="45902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0D9488"/>
                </a:solidFill>
                <a:latin typeface="Segoe UI"/>
              </a:rPr>
              <a:t>Delega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5084064"/>
            <a:ext cx="4590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A6275"/>
                </a:solidFill>
                <a:latin typeface="Segoe UI"/>
              </a:rPr>
              <a:t>Lascia eseguire con fiducia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BD0D8"/>
                </a:solidFill>
                <a:latin typeface="Segoe UI"/>
              </a:rPr>
              <a:t>07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STRUTTURA DI CONTESTO — 5 LIVELLI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5A6275"/>
                </a:solidFill>
                <a:latin typeface="Segoe UI"/>
              </a:rPr>
              <a:t>Caricato automaticamente ad ogni sessione — zero ripetizioni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10506456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8992" y="1975104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F766E"/>
                </a:solidFill>
                <a:latin typeface="Segoe UI"/>
              </a:rPr>
              <a:t>GLOBALE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83080"/>
            <a:ext cx="6766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F2E"/>
                </a:solidFill>
                <a:latin typeface="Consolas"/>
              </a:rPr>
              <a:t>~/.claude/CLAUDE.md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783080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9AA3B0"/>
                </a:solidFill>
                <a:latin typeface="Segoe UI"/>
              </a:rPr>
              <a:t>cosa 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633472"/>
            <a:ext cx="10506456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" y="2825496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F766E"/>
                </a:solidFill>
                <a:latin typeface="Segoe UI"/>
              </a:rPr>
              <a:t>GLOBALE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633472"/>
            <a:ext cx="6766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F2E"/>
                </a:solidFill>
                <a:latin typeface="Consolas"/>
              </a:rPr>
              <a:t>~/.claude/settings.json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633472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9AA3B0"/>
                </a:solidFill>
                <a:latin typeface="Segoe UI"/>
              </a:rPr>
              <a:t>cosa PUÒ FARE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483864"/>
            <a:ext cx="10506456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8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45309"/>
                </a:solidFill>
                <a:latin typeface="Segoe UI"/>
              </a:rPr>
              <a:t>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483864"/>
            <a:ext cx="6766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F2E"/>
                </a:solidFill>
                <a:latin typeface="Consolas"/>
              </a:rPr>
              <a:t>./CLAUDE.md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483864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9AA3B0"/>
                </a:solidFill>
                <a:latin typeface="Segoe UI"/>
              </a:rPr>
              <a:t>architettura locale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334256"/>
            <a:ext cx="10506456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8992" y="4526280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45309"/>
                </a:solidFill>
                <a:latin typeface="Segoe UI"/>
              </a:rPr>
              <a:t>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334256"/>
            <a:ext cx="6766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F2E"/>
                </a:solidFill>
                <a:latin typeface="Consolas"/>
              </a:rPr>
              <a:t>./.claude/settings.json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334256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9AA3B0"/>
                </a:solidFill>
                <a:latin typeface="Segoe UI"/>
              </a:rPr>
              <a:t>guardrail GDPR · hook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184648"/>
            <a:ext cx="10506456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8992" y="5376672"/>
            <a:ext cx="1051560" cy="329184"/>
          </a:xfrm>
          <a:prstGeom prst="roundRect">
            <a:avLst>
              <a:gd name="adj" fmla="val 4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DOMINIO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184648"/>
            <a:ext cx="6766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F2E"/>
                </a:solidFill>
                <a:latin typeface="Consolas"/>
              </a:rPr>
              <a:t>ARCHITECTURE.md · DB_SCHEMA.md · DOMAIN.md + Skills +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5184648"/>
            <a:ext cx="2011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9AA3B0"/>
                </a:solidFill>
                <a:latin typeface="Segoe UI"/>
              </a:rPr>
              <a:t>workflow · decisioni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AA3B0"/>
                </a:solidFill>
                <a:latin typeface="Segoe UI"/>
              </a:rPr>
              <a:t>CLAUDE.md = cosa sa    ·    settings.json = cosa può fare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BD0D8"/>
                </a:solidFill>
                <a:latin typeface="Segoe UI"/>
              </a:rPr>
              <a:t>08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MARKDOWN VS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AA3B0"/>
                </a:solidFill>
                <a:latin typeface="Segoe UI"/>
              </a:rPr>
              <a:t>FILE MARKDOWN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0D9488"/>
                </a:solidFill>
                <a:latin typeface="Segoe UI"/>
              </a:rPr>
              <a:t>Il manuale tecnico del progetto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2316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A6275"/>
                </a:solidFill>
                <a:latin typeface="Segoe UI"/>
              </a:rPr>
              <a:t>Com'è fatto il sistema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A6275"/>
                </a:solidFill>
                <a:latin typeface="Segoe UI"/>
              </a:rPr>
              <a:t>Scritto da te deliberatamente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A6275"/>
                </a:solidFill>
                <a:latin typeface="Segoe UI"/>
              </a:rPr>
              <a:t>Vive nel repository · stabile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389120"/>
            <a:ext cx="5029200" cy="13258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461772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275"/>
                </a:solidFill>
                <a:latin typeface="Consolas"/>
              </a:rPr>
              <a:t>« La tabella episodes ha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275"/>
                </a:solidFill>
                <a:latin typeface="Consolas"/>
              </a:rPr>
              <a:t>colonna episode_id UUID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325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AA3B0"/>
                </a:solidFill>
                <a:latin typeface="Segoe UI"/>
              </a:rP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D97706"/>
                </a:solidFill>
                <a:latin typeface="Segoe UI"/>
              </a:rPr>
              <a:t>Il taccuino delle decisioni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42316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A6275"/>
                </a:solidFill>
                <a:latin typeface="Segoe UI"/>
              </a:rPr>
              <a:t>Perché abbiamo scelto così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A6275"/>
                </a:solidFill>
                <a:latin typeface="Segoe UI"/>
              </a:rPr>
              <a:t>Scritta da Claude · nel CLAUDE.md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5A6275"/>
                </a:solidFill>
                <a:latin typeface="Segoe UI"/>
              </a:rPr>
              <a:t>Aggiornata sessione per sessione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4389120"/>
            <a:ext cx="5029200" cy="13258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461772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275"/>
                </a:solidFill>
                <a:latin typeface="Consolas"/>
              </a:rPr>
              <a:t>« episode_id nullable per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275"/>
                </a:solidFill>
                <a:latin typeface="Consolas"/>
              </a:rPr>
              <a:t>pazienti pre-2018 — legacy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BD0D8"/>
                </a:solidFill>
                <a:latin typeface="Segoe UI"/>
              </a:rPr>
              <a:t>09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SKILLS — I COMANDI /SLASH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6275"/>
                </a:solidFill>
                <a:latin typeface="Segoe UI"/>
              </a:rPr>
              <a:t>Le automazioni che ti costruisci tu: definite una volta, richiamate con una parola.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D9488"/>
                </a:solidFill>
                <a:latin typeface="Consolas"/>
              </a:rPr>
              <a:t>/newrrs-sync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2057400"/>
            <a:ext cx="7315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5A6275"/>
                </a:solidFill>
                <a:latin typeface="Segoe UI"/>
              </a:rPr>
              <a:t>Sincronizza tabelle PostgreSQL con logica healthcare, gestisce conflitti e log su NewRRS_log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807208"/>
            <a:ext cx="1046988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D9488"/>
                </a:solidFill>
                <a:latin typeface="Consolas"/>
              </a:rPr>
              <a:t>/newrrs-review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971800"/>
            <a:ext cx="7315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5A6275"/>
                </a:solidFill>
                <a:latin typeface="Segoe UI"/>
              </a:rPr>
              <a:t>Analizza una PR: naming, convenzioni Npgsql 8.x, compatibilità .NET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721608"/>
            <a:ext cx="1046988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D9488"/>
                </a:solidFill>
                <a:latin typeface="Consolas"/>
              </a:rPr>
              <a:t>/extract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886200"/>
            <a:ext cx="7315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5A6275"/>
                </a:solidFill>
                <a:latin typeface="Segoe UI"/>
              </a:rPr>
              <a:t>Estrae dati strutturati da referto medico: campi obbligatori, validazione GDPR, formato Genomedics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636008"/>
            <a:ext cx="1046988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5074920"/>
            <a:ext cx="10506456" cy="9601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28523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 i="1">
                <a:solidFill>
                  <a:srgbClr val="0F766E"/>
                </a:solidFill>
                <a:latin typeface="Segoe UI"/>
              </a:rPr>
              <a:t>Una skill è una prompt ingegnerizzata salvata — non la riscrivi mai più.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BD0D8"/>
                </a:solidFill>
                <a:latin typeface="Segoe UI"/>
              </a:rPr>
              <a:t>10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L'ECOSISTEMA — NON PARTI DA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1A1F2E"/>
                </a:solidFill>
                <a:latin typeface="Segoe UI"/>
              </a:rPr>
              <a:t>Le skill migliori non le scrivi: le installi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03120"/>
            <a:ext cx="331927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377440"/>
            <a:ext cx="2752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BD0D8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999232"/>
            <a:ext cx="2752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F2E"/>
                </a:solidFill>
                <a:latin typeface="Segoe UI"/>
              </a:rPr>
              <a:t>Marketplace ufficiali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401568"/>
            <a:ext cx="27706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275"/>
                </a:solidFill>
                <a:latin typeface="Segoe UI"/>
              </a:rPr>
              <a:t>Plugin verificati, installati con un comando.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31927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377440"/>
            <a:ext cx="2752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BD0D8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999232"/>
            <a:ext cx="2752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F2E"/>
                </a:solidFill>
                <a:latin typeface="Segoe UI"/>
              </a:rPr>
              <a:t>superpowers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3401568"/>
            <a:ext cx="27706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275"/>
                </a:solidFill>
                <a:latin typeface="Segoe UI"/>
              </a:rPr>
              <a:t>Un intero metodo — brainstorm, test-driven development (RED → GREEN → REFACTOR), debugging, git worktree.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414016"/>
            <a:ext cx="1371600" cy="310896"/>
          </a:xfrm>
          <a:prstGeom prst="roundRect">
            <a:avLst>
              <a:gd name="adj" fmla="val 4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TRA I PIÙ NOTI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2103120"/>
            <a:ext cx="3319272" cy="21031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2752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D9488"/>
                </a:solidFill>
                <a:latin typeface="Consolas"/>
              </a:rPr>
              <a:t>/brainstorm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99232"/>
            <a:ext cx="2752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D9488"/>
                </a:solidFill>
                <a:latin typeface="Segoe UI"/>
              </a:rPr>
              <a:t>Prima del codice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01568"/>
            <a:ext cx="27706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0F766E"/>
                </a:solidFill>
                <a:latin typeface="Segoe UI"/>
              </a:rPr>
              <a:t>Esploro l'approccio, peso le alternative, trovo i punti deboli. Solo pensiero, ancora nessuna riga.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434840"/>
            <a:ext cx="10506456" cy="10972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562856"/>
            <a:ext cx="9966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0F766E"/>
                </a:solidFill>
                <a:latin typeface="Segoe UI"/>
              </a:rPr>
              <a:t>L'AI è cieca al risultato: </a:t>
            </a:r>
            <a:r>
              <a:rPr sz="1450" b="0" i="0">
                <a:solidFill>
                  <a:srgbClr val="5A6275"/>
                </a:solidFill>
                <a:latin typeface="Segoe UI"/>
              </a:rPr>
              <a:t>insegnale a verificarsi da sola — quali test, quale output. È ciò che rende veloce il TDD (Test-Driven Development).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138928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9488"/>
                </a:solidFill>
                <a:latin typeface="Consolas"/>
              </a:rPr>
              <a:t>superpowers → verification-before-completion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687568"/>
            <a:ext cx="10506456" cy="53035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687568"/>
            <a:ext cx="9966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45309"/>
                </a:solidFill>
                <a:latin typeface="Segoe UI"/>
              </a:rPr>
              <a:t>Nota — </a:t>
            </a:r>
            <a:r>
              <a:rPr sz="1350" b="0" i="1">
                <a:solidFill>
                  <a:srgbClr val="B45309"/>
                </a:solidFill>
                <a:latin typeface="Segoe UI"/>
              </a:rPr>
              <a:t>è codice di terze parti: valuta cosa installi (hook, permessi, aggiornamenti).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2880"/>
            <a:ext cx="64008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310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C9D2DC"/>
                </a:solidFill>
                <a:latin typeface="Segoe UI"/>
              </a:rPr>
              <a:t>11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Segoe UI"/>
              </a:rPr>
              <a:t>LA DOMANDA GIUSTA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716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Siamo dentro un'esponenziale.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La fine non si vede ancora.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 strike="sngStrike">
                <a:solidFill>
                  <a:srgbClr val="6B7485"/>
                </a:solidFill>
                <a:latin typeface="Segoe UI"/>
              </a:rPr>
              <a:t>« L'AI mi sostituirà?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611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DD4BF"/>
                </a:solidFill>
                <a:latin typeface="Segoe UI"/>
              </a:rPr>
              <a:t>« So usarla meglio degli altri?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20624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22A2E"/>
          </a:solidFill>
          <a:ln w="9525">
            <a:solidFill>
              <a:srgbClr val="0F59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89120"/>
            <a:ext cx="7132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Il vantaggio competitivo oggi è la </a:t>
            </a:r>
            <a:r>
              <a:rPr sz="1600" b="1" i="0">
                <a:solidFill>
                  <a:srgbClr val="2DD4BF"/>
                </a:solidFill>
                <a:latin typeface="Segoe UI"/>
              </a:rPr>
              <a:t>capacità di delega intelligente.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413248"/>
            <a:ext cx="122529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477256"/>
            <a:ext cx="109728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86000" y="565099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Segoe UI"/>
              </a:rPr>
              <a:t>Inquadra il QR per le slide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605332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9D2DC"/>
                </a:solidFill>
                <a:latin typeface="Segoe UI"/>
              </a:rPr>
              <a:t>Gianluca Braccini    ·    linkedin.com/in/gianlucabraccini    ·    github.com/gbraccini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