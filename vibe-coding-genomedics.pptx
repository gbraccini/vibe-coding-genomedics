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9D2DC"/>
                </a:solidFill>
                <a:latin typeface="Segoe UI"/>
              </a:rPr>
              <a:t>01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7451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DD4BF"/>
                </a:solidFill>
                <a:latin typeface="Segoe UI"/>
              </a:rPr>
              <a:t>GENOMEDICS  ·  GIUGNO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78638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Vibe-coding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e l'AI nello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2DD4BF"/>
                </a:solidFill>
                <a:latin typeface="Segoe UI"/>
              </a:rPr>
              <a:t>sviluppo del codice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074920"/>
            <a:ext cx="2011680" cy="304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257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C9D2DC"/>
                </a:solidFill>
                <a:latin typeface="Segoe UI"/>
              </a:rPr>
              <a:t>Gianluca Braccini   ·   Consulente &amp; Docente   ·   Healthcare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02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CHI SONO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A1F2E"/>
                </a:solidFill>
                <a:latin typeface="Segoe UI"/>
              </a:rPr>
              <a:t>30+ anni nel settore.</a:t>
            </a:r>
          </a:p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A1F2E"/>
                </a:solidFill>
                <a:latin typeface="Segoe UI"/>
              </a:rPr>
              <a:t>Memoria storica, non titoli.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78892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026664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Sviluppatore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3465576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C# · .NET · Python · C/C++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PostgreSQL · Npgsql · Healthcare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278892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3026664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Freelance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7104" y="3465576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Collaboro con Millennium · NewRRS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4416552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65429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Segoe UI"/>
              </a:rPr>
              <a:t>Docente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5093208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ITIS A. Meucci · Firenze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Informatica di laboratorio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4416552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465429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Perché sono qui?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5093208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Non per i titoli. Per quello che ho visto in 30 anni.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03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LA DATA PRECISA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7160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F2E"/>
                </a:solidFill>
                <a:latin typeface="Segoe UI"/>
              </a:rPr>
              <a:t>Non ho mai visto niente di simile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76272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0574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574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Mainframe → PC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43200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6243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243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MS-DOS → Windows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10128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91256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1912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OOP &amp; eventi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877056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758184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2000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75818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Internet &amp; Web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43984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325112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32511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REST / gRPC / Cloud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5010912"/>
            <a:ext cx="146304" cy="14630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8920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24 nov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8920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E"/>
                </a:solidFill>
                <a:latin typeface="Segoe UI"/>
              </a:rPr>
              <a:t>Claude Opus 4.5 +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78308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1" i="0">
                <a:solidFill>
                  <a:srgbClr val="0D9488"/>
                </a:solidFill>
                <a:latin typeface="Segoe UI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0632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anni di cambiamenti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graduali e assimilabili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977639"/>
            <a:ext cx="365760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41605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1">
                <a:solidFill>
                  <a:srgbClr val="1A1F2E"/>
                </a:solidFill>
                <a:latin typeface="Segoe UI"/>
              </a:rPr>
              <a:t>questo no.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89204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9AA3B0"/>
                </a:solidFill>
                <a:latin typeface="Segoe UI"/>
              </a:rPr>
              <a:t>« Non ritrovo un momento storico</a:t>
            </a:r>
          </a:p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9AA3B0"/>
                </a:solidFill>
                <a:latin typeface="Segoe UI"/>
              </a:rPr>
              <a:t>come questo nella mia memoria.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04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Dal suggerimento all'ecosistema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Browser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«Scrivi questa funzione»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GitHub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133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Completamento riga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Cursor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Editing contestuale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0800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800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D9488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088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D9488"/>
                </a:solidFill>
                <a:latin typeface="Segoe UI"/>
              </a:rPr>
              <a:t>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917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0F766E"/>
                </a:solidFill>
                <a:latin typeface="Segoe UI"/>
              </a:rPr>
              <a:t>Ragiona sull'intero repo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074920"/>
            <a:ext cx="105064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852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1">
                <a:solidFill>
                  <a:srgbClr val="5A6275"/>
                </a:solidFill>
                <a:latin typeface="Segoe UI"/>
              </a:rPr>
              <a:t>Non completa righe — capisce soluzioni, progetti, dipendenze, riferimenti incrociati. È un cambio categoriale.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05 / 11</a:t>
            </a:r>
          </a:p>
        </p:txBody>
      </p:sp>
      <p:pic>
        <p:nvPicPr>
          <p:cNvPr id="3" name="Picture 2" descr="str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94560"/>
            <a:ext cx="12191695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PUNTO SCOMODO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Non puoi più competere a quel livello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42316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9AA3B0"/>
                </a:solidFill>
                <a:latin typeface="Segoe UI"/>
              </a:rPr>
              <a:t>SVILUPPATORE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4206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1A1F2E"/>
                </a:solidFill>
                <a:latin typeface="Segoe UI"/>
              </a:rPr>
              <a:t>~200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9AA3B0"/>
                </a:solidFill>
                <a:latin typeface="Segoe UI"/>
              </a:rPr>
              <a:t>righe / ora · fatte bene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32918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13448" y="242316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13448" y="2788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Segoe UI"/>
              </a:rPr>
              <a:t>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3200400"/>
            <a:ext cx="4206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0D9488"/>
                </a:solidFill>
                <a:latin typeface="Segoe UI"/>
              </a:rPr>
              <a:t>~10k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4251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0F766E"/>
                </a:solidFill>
                <a:latin typeface="Segoe UI"/>
              </a:rPr>
              <a:t>righe / ora · fatte bene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275"/>
                </a:solidFill>
                <a:latin typeface="Segoe UI"/>
              </a:rPr>
              <a:t>Il vantaggio competitivo si sposta: dal saper scrivere codice al saper delegare in modo intelligente.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06 / 11</a:t>
            </a:r>
          </a:p>
        </p:txBody>
      </p:sp>
      <p:pic>
        <p:nvPicPr>
          <p:cNvPr id="3" name="Picture 2" descr="ar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92608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VIBE-CODING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1A1F2E"/>
                </a:solidFill>
                <a:latin typeface="Segoe UI"/>
              </a:rPr>
              <a:t>Non si scrivono più istruzioni.</a:t>
            </a:r>
          </a:p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1A1F2E"/>
                </a:solidFill>
                <a:latin typeface="Segoe UI"/>
              </a:rPr>
              <a:t>Si descrivono </a:t>
            </a:r>
            <a:r>
              <a:rPr sz="3100" b="1" i="0">
                <a:solidFill>
                  <a:srgbClr val="0D9488"/>
                </a:solidFill>
                <a:latin typeface="Segoe UI"/>
              </a:rPr>
              <a:t>intenzioni.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971800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319125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Architettura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59359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Definisce la struttura del sistema e i vincoli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971800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7104" y="319125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Contesto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7104" y="359359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Fornisce informazioni precise all'AI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462272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681728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Qualità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5084064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Valida, raffina e approva il risultato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462272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4681728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Delega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5084064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Lascia eseguire con fiducia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07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STRUTTURA DI CONTESTO — 5 LIVELLI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Caricato automaticamente ad ogni sessione — zero ripetizioni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783080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8992" y="1975104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0F766E"/>
                </a:solidFill>
                <a:latin typeface="Segoe UI"/>
              </a:rPr>
              <a:t>GLOBALE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783080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783080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cosa 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633472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992" y="2825496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0F766E"/>
                </a:solidFill>
                <a:latin typeface="Segoe UI"/>
              </a:rPr>
              <a:t>GLOBALE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633472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~/.claude/settings.json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633472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cosa PUÒ FARE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483864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3675888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483864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./CLAUDE.md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483864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architettura locale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334256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8992" y="4526280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REPO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334256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./.claude/settings.json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4334256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guardrail GDPR · hook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184648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78992" y="5376672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4338CA"/>
                </a:solidFill>
                <a:latin typeface="Segoe UI"/>
              </a:rPr>
              <a:t>DOMINIO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5184648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ARCHITECTURE.md · DB_SCHEMA.md · DOMAIN.md + Skills + 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5184648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workflow · decisioni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3B0"/>
                </a:solidFill>
                <a:latin typeface="Segoe UI"/>
              </a:rPr>
              <a:t>CLAUDE.md = cosa sa    ·    settings.json = cosa può fare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08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MARKDOWN VS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25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AA3B0"/>
                </a:solidFill>
                <a:latin typeface="Segoe UI"/>
              </a:rPr>
              <a:t>FILE 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  <a:latin typeface="Segoe UI"/>
              </a:rPr>
              <a:t>Il manuale tecnico del progetto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2316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Com'è fatto il sistema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Scritto da te deliberatamente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Vive nel repository · stabile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389120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461772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« La tabella episodes ha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colonna episode_id UUID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1325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AA3B0"/>
                </a:solidFill>
                <a:latin typeface="Segoe UI"/>
              </a:rPr>
              <a:t>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D97706"/>
                </a:solidFill>
                <a:latin typeface="Segoe UI"/>
              </a:rPr>
              <a:t>Il taccuino delle decisioni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42316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Perché abbiamo scelto così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Scritta da Claude · nel CLAUDE.md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Aggiornata sessione per sessione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4389120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461772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« episode_id nullable per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pazienti pre-2018 — legacy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09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SKILLS — I COMANDI /SLASH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A6275"/>
                </a:solidFill>
                <a:latin typeface="Segoe UI"/>
              </a:rPr>
              <a:t>Le automazioni che ti costruisci tu: definite una volta, richiamate con una parola.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/newrrs-sync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20574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Sincronizza tabelle PostgreSQL con logica healthcare, gestisce conflitti e log su NewRRS_log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8072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/newrrs-review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9718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Analizza una PR: naming, convenzioni Npgsql 8.x, compatibilità .NET 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7216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8862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Estrae dati strutturati da referto medico: campi obbligatori, validazione GDPR, formato Genomedics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6360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5074920"/>
            <a:ext cx="10506456" cy="9601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28523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0F766E"/>
                </a:solidFill>
                <a:latin typeface="Segoe UI"/>
              </a:rPr>
              <a:t>Una skill è una prompt ingegnerizzata salvata — non la riscrivi mai più.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10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L'ECOSISTEMA — NON PARTI DA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Le skill migliori non le scrivi: le installi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BD0D8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F2E"/>
                </a:solidFill>
                <a:latin typeface="Segoe UI"/>
              </a:rPr>
              <a:t>Marketplace ufficiali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5A6275"/>
                </a:solidFill>
                <a:latin typeface="Segoe UI"/>
              </a:rPr>
              <a:t>Plugin verificati, installati con un comando.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BD0D8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F2E"/>
                </a:solidFill>
                <a:latin typeface="Segoe UI"/>
              </a:rPr>
              <a:t>superpowers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5A6275"/>
                </a:solidFill>
                <a:latin typeface="Segoe UI"/>
              </a:rPr>
              <a:t>Un intero metodo — brainstorm, test-driven development (RED → GREEN → REFACTOR), debugging, git worktree.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414016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TRA I PIÙ NOTI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onsolas"/>
              </a:rPr>
              <a:t>/brainstorm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Prima del codice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F766E"/>
                </a:solidFill>
                <a:latin typeface="Segoe UI"/>
              </a:rPr>
              <a:t>Esploro l'approccio, peso le alternative, trovo i punti deboli. Solo pensiero, ancora nessuna riga.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462272"/>
            <a:ext cx="10506456" cy="9601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608576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F766E"/>
                </a:solidFill>
                <a:latin typeface="Segoe UI"/>
              </a:rPr>
              <a:t>L'AI è cieca al risultato: </a:t>
            </a:r>
            <a:r>
              <a:rPr sz="1450" b="0" i="0">
                <a:solidFill>
                  <a:srgbClr val="5A6275"/>
                </a:solidFill>
                <a:latin typeface="Segoe UI"/>
              </a:rPr>
              <a:t>insegnale a verificarsi da sola — quali test, quale output. È ciò che rende veloce il TDD.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20056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D9488"/>
                </a:solidFill>
                <a:latin typeface="Consolas"/>
              </a:rPr>
              <a:t>superpowers → verification-before-completion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559552"/>
            <a:ext cx="10506456" cy="56692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559552"/>
            <a:ext cx="9966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45309"/>
                </a:solidFill>
                <a:latin typeface="Segoe UI"/>
              </a:rPr>
              <a:t>Nota — </a:t>
            </a:r>
            <a:r>
              <a:rPr sz="1350" b="0" i="1">
                <a:solidFill>
                  <a:srgbClr val="B45309"/>
                </a:solidFill>
                <a:latin typeface="Segoe UI"/>
              </a:rPr>
              <a:t>è codice di terze parti: valuta cosa installi (hook, permessi, aggiornamenti).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82880"/>
            <a:ext cx="64008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9D2DC"/>
                </a:solidFill>
                <a:latin typeface="Segoe UI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Segoe UI"/>
              </a:rPr>
              <a:t>LA DOMANDA GIUSTA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8686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Siamo dentro un'esponenziale.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La fine non si vede ancora.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632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 strike="sngStrike">
                <a:solidFill>
                  <a:srgbClr val="6B7485"/>
                </a:solidFill>
                <a:latin typeface="Segoe UI"/>
              </a:rPr>
              <a:t>« L'AI mi sostituirà?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611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2DD4BF"/>
                </a:solidFill>
                <a:latin typeface="Segoe UI"/>
              </a:rPr>
              <a:t>« So usarla meglio degli altri? 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526280"/>
            <a:ext cx="7680960" cy="960120"/>
          </a:xfrm>
          <a:prstGeom prst="roundRect">
            <a:avLst>
              <a:gd name="adj" fmla="val 8000"/>
            </a:avLst>
          </a:prstGeom>
          <a:solidFill>
            <a:srgbClr val="122A2E"/>
          </a:solidFill>
          <a:ln w="9525">
            <a:solidFill>
              <a:srgbClr val="0F5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718304"/>
            <a:ext cx="7132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Il vantaggio competitivo oggi è la </a:t>
            </a:r>
            <a:r>
              <a:rPr sz="1600" b="1" i="0">
                <a:solidFill>
                  <a:srgbClr val="2DD4BF"/>
                </a:solidFill>
                <a:latin typeface="Segoe UI"/>
              </a:rPr>
              <a:t>capacità di delega intelligente.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080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C9D2DC"/>
                </a:solidFill>
                <a:latin typeface="Segoe UI"/>
              </a:rPr>
              <a:t>Gianluca Braccini    ·    linkedin.com/in/gianlucabraccini    ·    github.com/gbraccini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